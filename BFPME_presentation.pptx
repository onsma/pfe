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286000"/>
            <a:ext cx="82296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4000" b="1" i="0">
                <a:solidFill>
                  <a:srgbClr val="1A1A1A"/>
                </a:solidFill>
                <a:latin typeface="Calibri"/>
              </a:rPr>
              <a:t>BFPME — Prédiction du risque de crédit PME</a:t>
            </a:r>
          </a:p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6B6B6B"/>
                </a:solidFill>
                <a:latin typeface="Calibri"/>
              </a:rPr>
              <a:t>De la validation sur données synthétiques à la confrontation aux données réelles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 dirty="0" err="1">
                <a:solidFill>
                  <a:srgbClr val="1A1A1A"/>
                </a:solidFill>
                <a:latin typeface="Calibri"/>
              </a:rPr>
              <a:t>Projet</a:t>
            </a:r>
            <a:r>
              <a:rPr sz="1400" b="1" i="0" dirty="0">
                <a:solidFill>
                  <a:srgbClr val="1A1A1A"/>
                </a:solidFill>
                <a:latin typeface="Calibri"/>
              </a:rPr>
              <a:t> de fin </a:t>
            </a:r>
            <a:r>
              <a:rPr sz="1400" b="1" i="0" dirty="0" err="1">
                <a:solidFill>
                  <a:srgbClr val="1A1A1A"/>
                </a:solidFill>
                <a:latin typeface="Calibri"/>
              </a:rPr>
              <a:t>d'études</a:t>
            </a:r>
            <a:r>
              <a:rPr sz="1400" b="1" i="0" dirty="0">
                <a:solidFill>
                  <a:srgbClr val="1A1A1A"/>
                </a:solidFill>
                <a:latin typeface="Calibri"/>
              </a:rPr>
              <a:t>  ·  </a:t>
            </a:r>
            <a:r>
              <a:rPr sz="1400" b="1" i="0" dirty="0" err="1">
                <a:solidFill>
                  <a:srgbClr val="1A1A1A"/>
                </a:solidFill>
                <a:latin typeface="Calibri"/>
              </a:rPr>
              <a:t>MPSoft</a:t>
            </a:r>
            <a:endParaRPr sz="1400" b="1" i="0" dirty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600"/>
              </a:spcAft>
              <a:buNone/>
            </a:pPr>
            <a:r>
              <a:rPr sz="1300" b="0" i="0" dirty="0" err="1">
                <a:solidFill>
                  <a:srgbClr val="6B6B6B"/>
                </a:solidFill>
                <a:latin typeface="Calibri"/>
              </a:rPr>
              <a:t>Synthèse</a:t>
            </a:r>
            <a:r>
              <a:rPr sz="1300" b="0" i="0" dirty="0">
                <a:solidFill>
                  <a:srgbClr val="6B6B6B"/>
                </a:solidFill>
                <a:latin typeface="Calibri"/>
              </a:rPr>
              <a:t> des travaux, </a:t>
            </a:r>
            <a:r>
              <a:rPr sz="1300" b="0" i="0" dirty="0" err="1">
                <a:solidFill>
                  <a:srgbClr val="6B6B6B"/>
                </a:solidFill>
                <a:latin typeface="Calibri"/>
              </a:rPr>
              <a:t>méthodes</a:t>
            </a:r>
            <a:r>
              <a:rPr sz="1300" b="0" i="0" dirty="0">
                <a:solidFill>
                  <a:srgbClr val="6B6B6B"/>
                </a:solidFill>
                <a:latin typeface="Calibri"/>
              </a:rPr>
              <a:t> et </a:t>
            </a:r>
            <a:r>
              <a:rPr sz="1300" b="0" i="0" dirty="0" err="1">
                <a:solidFill>
                  <a:srgbClr val="6B6B6B"/>
                </a:solidFill>
                <a:latin typeface="Calibri"/>
              </a:rPr>
              <a:t>résultats</a:t>
            </a:r>
            <a:endParaRPr sz="1300" b="0" i="0" dirty="0">
              <a:solidFill>
                <a:srgbClr val="6B6B6B"/>
              </a:solidFill>
              <a:latin typeface="Calibri"/>
            </a:endParaRPr>
          </a:p>
        </p:txBody>
      </p:sp>
      <p:pic>
        <p:nvPicPr>
          <p:cNvPr id="1028" name="Picture 4" descr="MPSOFT | Keejob">
            <a:extLst>
              <a:ext uri="{FF2B5EF4-FFF2-40B4-BE49-F238E27FC236}">
                <a16:creationId xmlns:a16="http://schemas.microsoft.com/office/drawing/2014/main" id="{A50C16ED-C6DF-45E5-8A2E-F3FDA8E79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5363" y="4690110"/>
            <a:ext cx="17526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058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1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Contexte, objectif &amp; fonctionnalités</a:t>
            </a:r>
          </a:p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2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Démarche méthodologique</a:t>
            </a:r>
          </a:p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3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Phase 1 — Données synthétiques : méthode &amp; résultats</a:t>
            </a:r>
          </a:p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4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Phase 2 — Jeux de données externes</a:t>
            </a:r>
          </a:p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5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Phase 2 — Données réelles de la BFPME</a:t>
            </a:r>
          </a:p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6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Synthèse des jeux de données</a:t>
            </a:r>
          </a:p>
          <a:p>
            <a:pPr>
              <a:spcAft>
                <a:spcPts val="1200"/>
              </a:spcAft>
              <a:buNone/>
            </a:pPr>
            <a:r>
              <a:rPr sz="1800" b="1" i="0">
                <a:solidFill>
                  <a:srgbClr val="1F4E79"/>
                </a:solidFill>
                <a:latin typeface="Calibri"/>
              </a:rPr>
              <a:t>7    </a:t>
            </a:r>
            <a:r>
              <a:rPr sz="1800" b="0" i="0">
                <a:solidFill>
                  <a:srgbClr val="1A1A1A"/>
                </a:solidFill>
                <a:latin typeface="Calibri"/>
              </a:rPr>
              <a:t>Conclusion &amp; prochaines étapes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Objectif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4922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Doter la BFPME d'une plateforme d'aide à la décision de crédit qui :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prédit la probabilité de défaut (PD) d'une PME,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explique chaque décision de façon auditable (SHAP),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simule des scénarios de stress (Monte Carlo),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tout en préservant la décision finale du comité de crédit.</a:t>
            </a:r>
          </a:p>
          <a:p>
            <a:pPr algn="l">
              <a:spcAft>
                <a:spcPts val="8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Deux phases :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Phase 1 — valider le pipeline sur données synthétiques.</a:t>
            </a:r>
          </a:p>
          <a:p>
            <a:pPr marL="256032" indent="-256032" algn="l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1A1A1A"/>
                </a:solidFill>
                <a:latin typeface="Calibri"/>
              </a:rPr>
              <a:t>Phase 2 — confronter l'approche aux données réelles.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83080"/>
            <a:ext cx="4206240" cy="40233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057400"/>
            <a:ext cx="365760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EN BREF</a:t>
            </a:r>
          </a:p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Calibri"/>
              </a:rPr>
              <a:t>2</a:t>
            </a:r>
          </a:p>
          <a:p>
            <a:pPr algn="l">
              <a:spcAft>
                <a:spcPts val="1200"/>
              </a:spcAft>
              <a:buNone/>
            </a:pPr>
            <a:r>
              <a:rPr sz="1200" b="0" i="0">
                <a:solidFill>
                  <a:srgbClr val="6B6B6B"/>
                </a:solidFill>
                <a:latin typeface="Calibri"/>
              </a:rPr>
              <a:t>phases de travail</a:t>
            </a:r>
          </a:p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Calibri"/>
              </a:rPr>
              <a:t>5</a:t>
            </a:r>
          </a:p>
          <a:p>
            <a:pPr algn="l">
              <a:spcAft>
                <a:spcPts val="1200"/>
              </a:spcAft>
              <a:buNone/>
            </a:pPr>
            <a:r>
              <a:rPr sz="1200" b="0" i="0">
                <a:solidFill>
                  <a:srgbClr val="6B6B6B"/>
                </a:solidFill>
                <a:latin typeface="Calibri"/>
              </a:rPr>
              <a:t>jeux de données étudiés</a:t>
            </a:r>
          </a:p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Calibri"/>
              </a:rPr>
              <a:t>RF / XGBoost</a:t>
            </a:r>
          </a:p>
          <a:p>
            <a:pPr algn="l">
              <a:spcAft>
                <a:spcPts val="1200"/>
              </a:spcAft>
              <a:buNone/>
            </a:pPr>
            <a:r>
              <a:rPr sz="1200" b="0" i="0">
                <a:solidFill>
                  <a:srgbClr val="6B6B6B"/>
                </a:solidFill>
                <a:latin typeface="Calibri"/>
              </a:rPr>
              <a:t>familles de modèles comparées</a:t>
            </a:r>
          </a:p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Calibri"/>
              </a:rPr>
              <a:t>SHAP</a:t>
            </a:r>
          </a:p>
          <a:p>
            <a:pPr algn="l">
              <a:spcAft>
                <a:spcPts val="1200"/>
              </a:spcAft>
              <a:buNone/>
            </a:pPr>
            <a:r>
              <a:rPr sz="1200" b="0" i="0">
                <a:solidFill>
                  <a:srgbClr val="6B6B6B"/>
                </a:solidFill>
                <a:latin typeface="Calibri"/>
              </a:rPr>
              <a:t>explicabilité des décisions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Ce que fait la plateforme, en bref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94960" cy="1874519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09728" cy="187451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475488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Prédiction de la PD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Estime la probabilité de défaut d'une PME à partir de ses données financières et comportementales (modèle XGBoost).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783080"/>
            <a:ext cx="5394960" cy="1874519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109728" cy="187451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984248"/>
            <a:ext cx="475488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Explicabilité SHAP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Décompose chaque décision en facteurs qui augmentent ou diminuent le risque — une prédiction auditable, pas une boîte noire.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5394960" cy="1874519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109728" cy="187451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87368"/>
            <a:ext cx="475488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Agent IA + LLM local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Orchestre validation, prédiction, explication et scénarios, puis rédige une synthèse en langage naturel (sans jamais inventer de chiffre).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886200"/>
            <a:ext cx="5394960" cy="1874519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5352" y="3886200"/>
            <a:ext cx="109728" cy="187451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4087368"/>
            <a:ext cx="4754880" cy="1508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>
                <a:solidFill>
                  <a:srgbClr val="1A1A1A"/>
                </a:solidFill>
                <a:latin typeface="Calibri"/>
              </a:rPr>
              <a:t>Tests de stress Monte Carlo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Simule des milliers de scénarios choqués et reconstitue la distribution de la PD (VaR, Expected Shortfall).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DÉMARCHE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Une méthodologie unique, appliquée à chaque jeu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Données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67712" y="3255264"/>
            <a:ext cx="128015" cy="164592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23160" y="27432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Prétraitement</a:t>
            </a:r>
          </a:p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+ ratios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42232" y="3255264"/>
            <a:ext cx="128015" cy="164592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2743200"/>
            <a:ext cx="16916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Modèles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RF / XGBoost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16752" y="3255264"/>
            <a:ext cx="128015" cy="164592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743200"/>
            <a:ext cx="169164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Explicabilité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SHAP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91272" y="3255264"/>
            <a:ext cx="128015" cy="164592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Agent IA</a:t>
            </a:r>
          </a:p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+ LLM local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65792" y="3255264"/>
            <a:ext cx="128015" cy="164592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21240" y="2743200"/>
            <a:ext cx="1691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Tests de stress</a:t>
            </a:r>
          </a:p>
          <a:p>
            <a:pPr algn="ctr"/>
            <a:r>
              <a:rPr sz="1250" b="1" i="0">
                <a:solidFill>
                  <a:srgbClr val="1A1A1A"/>
                </a:solidFill>
                <a:latin typeface="Calibri"/>
              </a:rPr>
              <a:t>Monte Carlo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0" i="1">
                <a:solidFill>
                  <a:srgbClr val="6B6B6B"/>
                </a:solidFill>
                <a:latin typeface="Calibri"/>
              </a:rPr>
              <a:t>La même chaîne sert à comparer objectivement des populations très différentes (synthétique, jeux externes publics, dossiers réels BFPME).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1 · DONNÉES SYNTHÉTIQUES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Méthode : générateur réaliste et 3 périmètres de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0531" y="2103480"/>
            <a:ext cx="6934669" cy="1318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1" i="0" dirty="0" err="1">
                <a:solidFill>
                  <a:srgbClr val="1A1A1A"/>
                </a:solidFill>
                <a:latin typeface="Calibri"/>
              </a:rPr>
              <a:t>Génération</a:t>
            </a:r>
            <a:r>
              <a:rPr sz="1600" b="1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1A1A1A"/>
                </a:solidFill>
                <a:latin typeface="Calibri"/>
              </a:rPr>
              <a:t>pilotée</a:t>
            </a:r>
            <a:r>
              <a:rPr sz="1600" b="1" i="0" dirty="0">
                <a:solidFill>
                  <a:srgbClr val="1A1A1A"/>
                </a:solidFill>
                <a:latin typeface="Calibri"/>
              </a:rPr>
              <a:t> par un </a:t>
            </a:r>
            <a:r>
              <a:rPr sz="1600" b="1" i="0" dirty="0" err="1">
                <a:solidFill>
                  <a:srgbClr val="1A1A1A"/>
                </a:solidFill>
                <a:latin typeface="Calibri"/>
              </a:rPr>
              <a:t>facteur</a:t>
            </a:r>
            <a:r>
              <a:rPr sz="1600" b="1" i="0" dirty="0">
                <a:solidFill>
                  <a:srgbClr val="1A1A1A"/>
                </a:solidFill>
                <a:latin typeface="Calibri"/>
              </a:rPr>
              <a:t> de </a:t>
            </a:r>
            <a:r>
              <a:rPr sz="1600" b="1" i="0" dirty="0" err="1">
                <a:solidFill>
                  <a:srgbClr val="1A1A1A"/>
                </a:solidFill>
                <a:latin typeface="Calibri"/>
              </a:rPr>
              <a:t>risque</a:t>
            </a:r>
            <a:r>
              <a:rPr sz="1600" b="1" i="0" dirty="0">
                <a:solidFill>
                  <a:srgbClr val="1A1A1A"/>
                </a:solidFill>
                <a:latin typeface="Calibri"/>
              </a:rPr>
              <a:t> latent</a:t>
            </a:r>
          </a:p>
          <a:p>
            <a:pPr algn="l">
              <a:spcAft>
                <a:spcPts val="1400"/>
              </a:spcAft>
              <a:buNone/>
            </a:pPr>
            <a:r>
              <a:rPr sz="1600" b="0" i="0" dirty="0">
                <a:solidFill>
                  <a:srgbClr val="6B6B6B"/>
                </a:solidFill>
                <a:latin typeface="Calibri"/>
              </a:rPr>
              <a:t>~90 variables métier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générées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conditionnellement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;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cible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tirée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d'une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PD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logistique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  <a:buNone/>
            </a:pPr>
            <a:r>
              <a:rPr sz="1600" b="1" i="0" dirty="0">
                <a:solidFill>
                  <a:srgbClr val="1A1A1A"/>
                </a:solidFill>
                <a:latin typeface="Calibri"/>
              </a:rPr>
              <a:t>Trois </a:t>
            </a:r>
            <a:r>
              <a:rPr sz="1600" b="1" i="0" dirty="0" err="1">
                <a:solidFill>
                  <a:srgbClr val="1A1A1A"/>
                </a:solidFill>
                <a:latin typeface="Calibri"/>
              </a:rPr>
              <a:t>périmètres</a:t>
            </a:r>
            <a:r>
              <a:rPr sz="1600" b="1" i="0" dirty="0">
                <a:solidFill>
                  <a:srgbClr val="1A1A1A"/>
                </a:solidFill>
                <a:latin typeface="Calibri"/>
              </a:rPr>
              <a:t> de variables </a:t>
            </a:r>
            <a:r>
              <a:rPr sz="1600" b="1" i="0" dirty="0" err="1">
                <a:solidFill>
                  <a:srgbClr val="1A1A1A"/>
                </a:solidFill>
                <a:latin typeface="Calibri"/>
              </a:rPr>
              <a:t>comparés</a:t>
            </a:r>
            <a:endParaRPr sz="1600" b="1" i="0" dirty="0">
              <a:solidFill>
                <a:srgbClr val="1A1A1A"/>
              </a:solidFill>
              <a:latin typeface="Calibri"/>
            </a:endParaRPr>
          </a:p>
          <a:p>
            <a:pPr algn="l">
              <a:spcAft>
                <a:spcPts val="0"/>
              </a:spcAft>
              <a:buNone/>
            </a:pPr>
            <a:r>
              <a:rPr sz="1600" b="0" i="0" dirty="0">
                <a:solidFill>
                  <a:srgbClr val="6B6B6B"/>
                </a:solidFill>
                <a:latin typeface="Calibri"/>
              </a:rPr>
              <a:t>10 000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lignes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· split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stratifié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80/20 ·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RandomForest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 vs </a:t>
            </a:r>
            <a:r>
              <a:rPr sz="1600" b="0" i="0" dirty="0" err="1">
                <a:solidFill>
                  <a:srgbClr val="6B6B6B"/>
                </a:solidFill>
                <a:latin typeface="Calibri"/>
              </a:rPr>
              <a:t>XGBoost</a:t>
            </a:r>
            <a:r>
              <a:rPr sz="1600" b="0" i="0" dirty="0">
                <a:solidFill>
                  <a:srgbClr val="6B6B6B"/>
                </a:solidFill>
                <a:latin typeface="Calibri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739148"/>
              </p:ext>
            </p:extLst>
          </p:nvPr>
        </p:nvGraphicFramePr>
        <p:xfrm>
          <a:off x="3681865" y="3836603"/>
          <a:ext cx="457199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8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Calibri"/>
                        </a:rPr>
                        <a:t>Périmètre</a:t>
                      </a:r>
                      <a:endParaRPr sz="1200" b="1" i="0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Statut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1A1A1A"/>
                          </a:solidFill>
                          <a:latin typeface="Calibri"/>
                        </a:rPr>
                        <a:t>Toutes</a:t>
                      </a:r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 variables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A1A1A"/>
                          </a:solidFill>
                          <a:latin typeface="Calibri"/>
                        </a:rPr>
                        <a:t>Sans scores BFPME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Hybride minimal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1A1A1A"/>
                          </a:solidFill>
                          <a:latin typeface="Calibri"/>
                        </a:rPr>
                        <a:t>Déployé</a:t>
                      </a:r>
                      <a:endParaRPr sz="1200" b="0" i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1 · DONNÉES SYNTHÉTIQUES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Résultats : modèle performant, puis réalisme assumé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Modèle déployé — XGBoost (option 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286000"/>
            <a:ext cx="2194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2286000"/>
            <a:ext cx="1950963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49824" y="22677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0,889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Précision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43200"/>
            <a:ext cx="2194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743200"/>
            <a:ext cx="190487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9824" y="27249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8211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Rappel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200400"/>
            <a:ext cx="2194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3200400"/>
            <a:ext cx="1920240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49824" y="31821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0,875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F1-score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657600"/>
            <a:ext cx="2194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3657600"/>
            <a:ext cx="1913656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9824" y="363931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0,872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737360"/>
            <a:ext cx="4846320" cy="301752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1965960"/>
            <a:ext cx="429768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Injection de réalisme (v1 → v2)</a:t>
            </a:r>
          </a:p>
          <a:p>
            <a:pPr algn="l">
              <a:spcAft>
                <a:spcPts val="600"/>
              </a:spcAft>
              <a:buNone/>
            </a:pPr>
            <a:r>
              <a:rPr sz="1300" b="0" i="0">
                <a:solidFill>
                  <a:srgbClr val="6B6B6B"/>
                </a:solidFill>
                <a:latin typeface="Calibri"/>
              </a:rPr>
              <a:t>Split aléatoire (v1) :  AUC ≈ 0,99</a:t>
            </a:r>
          </a:p>
          <a:p>
            <a:pPr algn="l">
              <a:spcAft>
                <a:spcPts val="10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Split temporel (v2) :  AUC ≈ 0,80–0,82</a:t>
            </a:r>
          </a:p>
          <a:p>
            <a:pPr algn="l">
              <a:spcAft>
                <a:spcPts val="0"/>
              </a:spcAft>
              <a:buNone/>
            </a:pPr>
            <a:r>
              <a:rPr sz="1200" b="0" i="1">
                <a:solidFill>
                  <a:srgbClr val="6B6B6B"/>
                </a:solidFill>
                <a:latin typeface="Calibri"/>
              </a:rPr>
              <a:t>Bruit accru, variables dominantes atténuées, cas contradictoires, dérive temporelle.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Message clé : des métriques plus basses = évaluation plus honnête, plus défendable avant le passage au réel.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2 · DONNÉES RÉELLES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Deux axes de confrontation au réel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>
                <a:solidFill>
                  <a:srgbClr val="1F4E79"/>
                </a:solidFill>
                <a:latin typeface="Calibri"/>
              </a:rPr>
              <a:t>CHAPITRE 1</a:t>
            </a:r>
          </a:p>
          <a:p>
            <a:pPr algn="l">
              <a:spcAft>
                <a:spcPts val="1000"/>
              </a:spcAft>
              <a:buNone/>
            </a:pPr>
            <a:r>
              <a:rPr sz="1800" b="1" i="0">
                <a:solidFill>
                  <a:srgbClr val="1A1A1A"/>
                </a:solidFill>
                <a:latin typeface="Calibri"/>
              </a:rPr>
              <a:t>Jeux de données externes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6B6B6B"/>
                </a:solidFill>
                <a:latin typeface="Calibri"/>
              </a:rPr>
              <a:t>Méthodologie répliquée sur 2 jeux publics réels :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Credit Card Taïwan (30 000)</a:t>
            </a:r>
          </a:p>
          <a:p>
            <a:pPr marL="256032" indent="-256032" algn="l">
              <a:spcAft>
                <a:spcPts val="10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Home Credit (307 511)</a:t>
            </a:r>
          </a:p>
          <a:p>
            <a:pPr algn="l">
              <a:spcAft>
                <a:spcPts val="0"/>
              </a:spcAft>
              <a:buNone/>
            </a:pPr>
            <a:r>
              <a:rPr sz="1300" b="0" i="1">
                <a:solidFill>
                  <a:srgbClr val="6B6B6B"/>
                </a:solidFill>
                <a:latin typeface="Calibri"/>
              </a:rPr>
              <a:t>But : prouver la transférabilité de l'approche.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1920240"/>
            <a:ext cx="539496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2194560"/>
            <a:ext cx="47548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>
                <a:solidFill>
                  <a:srgbClr val="1F4E79"/>
                </a:solidFill>
                <a:latin typeface="Calibri"/>
              </a:rPr>
              <a:t>CHAPITRE 2</a:t>
            </a:r>
          </a:p>
          <a:p>
            <a:pPr algn="l">
              <a:spcAft>
                <a:spcPts val="1000"/>
              </a:spcAft>
              <a:buNone/>
            </a:pPr>
            <a:r>
              <a:rPr sz="1800" b="1" i="0">
                <a:solidFill>
                  <a:srgbClr val="1A1A1A"/>
                </a:solidFill>
                <a:latin typeface="Calibri"/>
              </a:rPr>
              <a:t>Données réelles BFPME</a:t>
            </a:r>
          </a:p>
          <a:p>
            <a:pPr algn="l">
              <a:spcAft>
                <a:spcPts val="800"/>
              </a:spcAft>
              <a:buNone/>
            </a:pPr>
            <a:r>
              <a:rPr sz="1300" b="0" i="0">
                <a:solidFill>
                  <a:srgbClr val="6B6B6B"/>
                </a:solidFill>
                <a:latin typeface="Calibri"/>
              </a:rPr>
              <a:t>1 226 dossiers réels (défaut 65 %) :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Validation externe du modèle synthétique</a:t>
            </a:r>
          </a:p>
          <a:p>
            <a:pPr marL="256032" indent="-256032" algn="l">
              <a:spcAft>
                <a:spcPts val="10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Modèle entraîné directement sur le réel</a:t>
            </a:r>
          </a:p>
          <a:p>
            <a:pPr algn="l">
              <a:spcAft>
                <a:spcPts val="0"/>
              </a:spcAft>
              <a:buNone/>
            </a:pPr>
            <a:r>
              <a:rPr sz="1300" b="0" i="1">
                <a:solidFill>
                  <a:srgbClr val="6B6B6B"/>
                </a:solidFill>
                <a:latin typeface="Calibri"/>
              </a:rPr>
              <a:t>But : mesurer la vraie généralisation.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2 · CHAPITRE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Jeux externes : la méthodologie est transférable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74519"/>
          <a:ext cx="6400798" cy="1426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9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2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Jeu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Modèle retenu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Gini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Credit Card Taïwan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0,782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0,565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0,431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Home Credit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0,787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0,575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Calibri"/>
                        </a:rPr>
                        <a:t>0,439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30751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Taïwan · XGBoost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749039"/>
            <a:ext cx="694944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3749039"/>
            <a:ext cx="5434462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1904" y="3730751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0,782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Home Credit · 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206240"/>
            <a:ext cx="694944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0" y="4206240"/>
            <a:ext cx="5469209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61904" y="418795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0,787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1">
                <a:solidFill>
                  <a:srgbClr val="6B6B6B"/>
                </a:solidFill>
                <a:latin typeface="Calibri"/>
              </a:rPr>
              <a:t>AUC ≈ 0,78 sur données réelles publiques : des niveaux crédibles, cohérents avec l'état de l'art. XGBoost l'emporte sur les deux jeux (bootstrap apparié).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2 · CHAPITRE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Le modèle synthétique s'effondre sur les dossiers réels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Validation externe (5 variables partagées, non-fuyantes)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· Synthétique (interne)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331720"/>
            <a:ext cx="6766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0" y="2331720"/>
            <a:ext cx="5934273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1904" y="231343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0,877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1635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B · Réel (validation externe)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834640"/>
            <a:ext cx="6766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0" y="2834640"/>
            <a:ext cx="3565977" cy="256032"/>
          </a:xfrm>
          <a:prstGeom prst="rect">
            <a:avLst/>
          </a:prstGeom>
          <a:solidFill>
            <a:srgbClr val="B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61904" y="281635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0,527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19272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1A1A1A"/>
                </a:solidFill>
                <a:latin typeface="Calibri"/>
              </a:rPr>
              <a:t>C · Réel seul (5 var.)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337560"/>
            <a:ext cx="6766560" cy="2560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0" y="3337560"/>
            <a:ext cx="3532144" cy="25603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61904" y="331927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1A1A1A"/>
                </a:solidFill>
                <a:latin typeface="Calibri"/>
              </a:rPr>
              <a:t>0,522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Écart de réalité (A − B) ≈ 0,35  —  même constat pour LogReg et Gradient Boosting.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Sur le synthétique le modèle paraît excellent (AUC ≈ 0,88) — c'est trompeur.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Sur le réel il tombe à ≈ 0,51 : équivalent d'un tirage à pile ou face.</a:t>
            </a:r>
          </a:p>
          <a:p>
            <a:pPr marL="256032" indent="-256032" algn="l">
              <a:spcAft>
                <a:spcPts val="6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Il a appris les règles du générateur, pas le risque de crédit.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2 · CHAPITRE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Entraîné directement sur le réel : un signal exploitable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1 226 dossiers · 40 variables natives</a:t>
            </a:r>
          </a:p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6B6B6B"/>
                </a:solidFill>
                <a:latin typeface="Calibri"/>
              </a:rPr>
              <a:t>Avec le périmètre réel complet, l'AUC dépasse nettement le plafond des 5 variables partagées (0,52).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743200"/>
          <a:ext cx="5852158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17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KS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RandomForest réglé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0,782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0,716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0,325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0,796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0,702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0,289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0,751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LogReg (base)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0,675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0,275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0,720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58000" y="2743200"/>
            <a:ext cx="4754880" cy="22860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2971800"/>
            <a:ext cx="42062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Calibri"/>
              </a:rPr>
              <a:t>Modèle retenu — hold-out réel</a:t>
            </a:r>
          </a:p>
          <a:p>
            <a:pPr algn="l">
              <a:spcAft>
                <a:spcPts val="600"/>
              </a:spcAft>
              <a:buNone/>
            </a:pPr>
            <a:r>
              <a:rPr sz="1400" b="1" i="0">
                <a:solidFill>
                  <a:srgbClr val="1F4E79"/>
                </a:solidFill>
                <a:latin typeface="Calibri"/>
              </a:rPr>
              <a:t>AUC 0,750   ·   Gini 0,501   ·   KS 0,430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Calibri"/>
              </a:rPr>
              <a:t>Exactitude 0,768 · Précision 0,775 · Rappel 0,906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50" b="0" i="1">
                <a:solidFill>
                  <a:srgbClr val="6B6B6B"/>
                </a:solidFill>
                <a:latin typeface="Calibri"/>
              </a:rPr>
              <a:t>Signal réel exploitable (AUC 0,72–0,75), mais borné par la richesse limitée du fichier actuel.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PHASE 2 · FOCUS MÉTHODOLOGIQUE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Pourquoi AUC, Gini et KS — et non accuracy, rappel, F1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29383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RETENUES — pouvoir de discrimination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599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AUC / Gini</a:t>
            </a:r>
          </a:p>
          <a:p>
            <a:pPr algn="l">
              <a:spcAft>
                <a:spcPts val="80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Capacité à classer les emprunteurs par risque, indépendamment du seuil (Gini = 2·AUC − 1).</a:t>
            </a:r>
          </a:p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KS</a:t>
            </a:r>
          </a:p>
          <a:p>
            <a:pPr algn="l">
              <a:spcAft>
                <a:spcPts val="80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Séparation maximale entre bons et mauvais payeurs ; standard du credit scoring et de la réglementation.</a:t>
            </a:r>
          </a:p>
          <a:p>
            <a:pPr algn="l">
              <a:spcAft>
                <a:spcPts val="0"/>
              </a:spcAft>
              <a:buNone/>
            </a:pPr>
            <a:r>
              <a:rPr sz="1250" b="1" i="0">
                <a:solidFill>
                  <a:srgbClr val="1A1A1A"/>
                </a:solidFill>
                <a:latin typeface="Calibri"/>
              </a:rPr>
              <a:t>→ Comparables d'un portefeuille à l'autre.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39496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5352" y="1874519"/>
            <a:ext cx="5394960" cy="4572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929383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Calibri"/>
              </a:rPr>
              <a:t>ÉCARTÉES — dépendantes du seuil et du taux de défaut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14599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Taux de défaut réel = 65 %</a:t>
            </a:r>
          </a:p>
          <a:p>
            <a:pPr algn="l">
              <a:spcAft>
                <a:spcPts val="80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Un modèle trivial « tout en défaut » atteint déjà 65 % d'accuracy et 100 % de rappel : trompeur.</a:t>
            </a:r>
          </a:p>
          <a:p>
            <a:pPr algn="l">
              <a:spcAft>
                <a:spcPts val="200"/>
              </a:spcAft>
              <a:buNone/>
            </a:pPr>
            <a:r>
              <a:rPr sz="1400" b="1" i="0">
                <a:solidFill>
                  <a:srgbClr val="1A1A1A"/>
                </a:solidFill>
                <a:latin typeface="Calibri"/>
              </a:rPr>
              <a:t>Accuracy / Rappel / F1</a:t>
            </a:r>
          </a:p>
          <a:p>
            <a:pPr algn="l">
              <a:spcAft>
                <a:spcPts val="0"/>
              </a:spcAft>
              <a:buNone/>
            </a:pPr>
            <a:r>
              <a:rPr sz="1250" b="0" i="0">
                <a:solidFill>
                  <a:srgbClr val="6B6B6B"/>
                </a:solidFill>
                <a:latin typeface="Calibri"/>
              </a:rPr>
              <a:t>Dépendent d'un seuil arbitraire ; elles jugent une décision, pas le pouvoir de tri, et sont instables sur 1 226 dossiers.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50" b="1" i="0">
                <a:solidFill>
                  <a:srgbClr val="1A1A1A"/>
                </a:solidFill>
                <a:latin typeface="Calibri"/>
              </a:rPr>
              <a:t>En crédit, on évalue d'abord la capacité à ORDONNER le risque ; le seuil de décision est un choix métier distinct, fixé ensuite.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Tous les jeux de données en un coup d'œil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3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0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9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4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Jeu de données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Meilleur modèle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Synthétique (option C)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Synthétique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10 000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0,889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Synthétique v2 (temporel)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Synthétique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10 000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RF / XGBoost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0,80–0,82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Credit Card Taïwan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Externe réel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30 000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0,782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Home Credit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Externe réel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307 511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0,787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BFPME réel (modèle synth.)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Réel BFPME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1 226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 (validation ext.)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0,51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BFPME réel (modèle direct)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Réel BFPME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1 226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0,750</a:t>
                      </a:r>
                    </a:p>
                  </a:txBody>
                  <a:tcPr marL="73152" marR="73152" marT="18288" marB="18288"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1">
                <a:solidFill>
                  <a:srgbClr val="6B6B6B"/>
                </a:solidFill>
                <a:latin typeface="Calibri"/>
              </a:rPr>
              <a:t>La performance synthétique (0,89) ne survit pas au réel (0,51) ; le vrai modèle réel plafonne à 0,75 faute de variables riches.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50292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6B6B6B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1A1A1A"/>
                </a:solidFill>
                <a:latin typeface="Calibri"/>
              </a:rPr>
              <a:t>Ce qui est acquis, et la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BFPME  ·  Prédiction du risque de crédit PME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57784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Acquis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Pipeline complet et robuste, validé de bout en bout.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Méthodologie transférable (AUC ≈ 0,78 sur jeux réels publics).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Preuve chiffrée : le synthétique ne suffit pas pour un modèle déployable.</a:t>
            </a:r>
          </a:p>
          <a:p>
            <a:pPr marL="256032" indent="-256032" algn="l"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A1A1A"/>
                </a:solidFill>
                <a:latin typeface="Calibri"/>
              </a:rPr>
              <a:t>Explicabilité (SHAP) et supervision humaine intégrées.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257800" cy="402336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0574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500" b="1" i="0">
                <a:solidFill>
                  <a:srgbClr val="1A1A1A"/>
                </a:solidFill>
                <a:latin typeface="Calibri"/>
              </a:rPr>
              <a:t>Prochaines étapes</a:t>
            </a:r>
          </a:p>
          <a:p>
            <a:pPr marL="256032" indent="-256032" algn="l">
              <a:spcAft>
                <a:spcPts val="9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Enrichir le signal par des données comportementales et de bureau de crédit (à l'image des tables satellites de Home Credit).</a:t>
            </a:r>
          </a:p>
          <a:p>
            <a:pPr marL="256032" indent="-256032" algn="l">
              <a:spcAft>
                <a:spcPts val="9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Industrialiser en MLOps : conteneurisation, CI/CD et surveillance de la dérive du modèle.</a:t>
            </a:r>
          </a:p>
          <a:p>
            <a:pPr marL="256032" indent="-256032" algn="l">
              <a:spcAft>
                <a:spcPts val="9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Auditer l'équité et la robustesse (biais par secteur, région, taille de PME).</a:t>
            </a:r>
          </a:p>
          <a:p>
            <a:pPr marL="256032" indent="-256032" algn="l">
              <a:spcAft>
                <a:spcPts val="900"/>
              </a:spcAft>
              <a:buFont typeface="Arial"/>
              <a:buChar char="–"/>
            </a:pPr>
            <a:r>
              <a:rPr sz="1300" b="0" i="0">
                <a:solidFill>
                  <a:srgbClr val="1A1A1A"/>
                </a:solidFill>
                <a:latin typeface="Calibri"/>
              </a:rPr>
              <a:t>Accompagner l'adoption : intégration au workflow du comité et retour des analystes.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9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6012" y="351692"/>
            <a:ext cx="822960" cy="914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20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4000" b="1" i="0" dirty="0">
                <a:solidFill>
                  <a:srgbClr val="1A1A1A"/>
                </a:solidFill>
                <a:latin typeface="Calibri"/>
              </a:rPr>
              <a:t>Merci</a:t>
            </a:r>
            <a:r>
              <a:rPr lang="fr-FR" sz="4000" b="1" i="0" dirty="0">
                <a:solidFill>
                  <a:srgbClr val="1A1A1A"/>
                </a:solidFill>
                <a:latin typeface="Calibri"/>
              </a:rPr>
              <a:t> pour votre attention </a:t>
            </a:r>
            <a:endParaRPr sz="4000" b="1" i="0" dirty="0">
              <a:solidFill>
                <a:srgbClr val="1A1A1A"/>
              </a:solidFill>
              <a:latin typeface="Calibri"/>
            </a:endParaRPr>
          </a:p>
          <a:p>
            <a:pPr algn="ctr">
              <a:spcAft>
                <a:spcPts val="0"/>
              </a:spcAft>
              <a:buNone/>
            </a:pPr>
            <a:r>
              <a:rPr sz="1800" b="0" i="0" dirty="0">
                <a:solidFill>
                  <a:srgbClr val="6B6B6B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1384</Words>
  <Application>Microsoft Office PowerPoint</Application>
  <PresentationFormat>Grand écran</PresentationFormat>
  <Paragraphs>259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Ons MATMATI</cp:lastModifiedBy>
  <cp:revision>2</cp:revision>
  <dcterms:created xsi:type="dcterms:W3CDTF">2013-01-27T09:14:16Z</dcterms:created>
  <dcterms:modified xsi:type="dcterms:W3CDTF">2026-07-27T13:03:57Z</dcterms:modified>
  <cp:category/>
</cp:coreProperties>
</file>